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457200"/>
            <a:ext cx="1280160" cy="12801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640080"/>
            <a:ext cx="914400" cy="91440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Chômage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Diplômés Tunisiens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End-to-End — ENPE 2017 (INS Tunisie)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3657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452 928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Boudriga Ahmed   |   2025–2026   |   Dataset : INS Tunisie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188720"/>
            <a:ext cx="2743200" cy="1828800"/>
          </a:xfrm>
          <a:prstGeom prst="rect">
            <a:avLst/>
          </a:prstGeom>
          <a:solidFill>
            <a:srgbClr val="1E2D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diplômés du supérieur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au chômage en Tunisie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4864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Tunisie — ENPE 2017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54864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452 928 individus, 14 variables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54864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supervisée — 3 classes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188720"/>
            <a:ext cx="73152" cy="5486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234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Employé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du dataset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1280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1847088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847088"/>
            <a:ext cx="73152" cy="54864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Chômeur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12140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du dataset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19385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505456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505456"/>
            <a:ext cx="73152" cy="548640"/>
          </a:xfrm>
          <a:prstGeom prst="rect">
            <a:avLst/>
          </a:prstGeom>
          <a:solidFill>
            <a:srgbClr val="88878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551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Inactif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27797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du dataset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259689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2E75B6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206240"/>
            <a:ext cx="54864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ML : Peut-on prédire automatiquement le statut d'emploi d'un diplômé tunisien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ses caractéristiques socio-démographiques 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Machine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5544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15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graphiques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du diplôme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697480"/>
            <a:ext cx="164592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5786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097280"/>
            <a:ext cx="1554480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1993392" y="1115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93392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3392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médiane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47872" y="2697480"/>
            <a:ext cx="164592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593592" y="25786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12464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1097280"/>
            <a:ext cx="15544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712464" y="1115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12464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12464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nouvelles 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d'interaction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66944" y="2697480"/>
            <a:ext cx="164592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5312664" y="25786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31536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1097280"/>
            <a:ext cx="155448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6"/>
          <p:cNvSpPr/>
          <p:nvPr/>
        </p:nvSpPr>
        <p:spPr>
          <a:xfrm>
            <a:off x="5431536" y="1115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31536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31536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comparés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6016" y="2697480"/>
            <a:ext cx="164592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736" y="257860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50608" y="1097280"/>
            <a:ext cx="1554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097280"/>
            <a:ext cx="1554480" cy="5029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5" name="Text 33"/>
          <p:cNvSpPr/>
          <p:nvPr/>
        </p:nvSpPr>
        <p:spPr>
          <a:xfrm>
            <a:off x="7150608" y="1115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50608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50608" y="2240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notebooks sont commentés avec titres et descriptions Markdown à chaque étape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— 3 Découvertes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E24B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du Diplôme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chômage AUGMENTE avec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d'études — les diplômés du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supérieur sont les plus touchés.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429000"/>
            <a:ext cx="2560320" cy="1234440"/>
          </a:xfrm>
          <a:prstGeom prst="rect">
            <a:avLst/>
          </a:prstGeom>
          <a:solidFill>
            <a:srgbClr val="E24B4A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— diplômés supérieurs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118872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Disparités Régionales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régions intérieures (Kasserine,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Gafsa, Sidi Bouzid) affichent un taux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chômage systématiquement plus élevé.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429000"/>
            <a:ext cx="2560320" cy="1234440"/>
          </a:xfrm>
          <a:prstGeom prst="rect">
            <a:avLst/>
          </a:prstGeom>
          <a:solidFill>
            <a:srgbClr val="2E75B6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+15pts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2918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intérieur vs côtier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097280"/>
            <a:ext cx="274320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18872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Asymétrie de Genre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331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femmes diplômées cumulent un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chômage plus élevé ET un fort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d'inactivité — groupe vulnérable.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429000"/>
            <a:ext cx="2560320" cy="1234440"/>
          </a:xfrm>
          <a:prstGeom prst="rect">
            <a:avLst/>
          </a:prstGeom>
          <a:solidFill>
            <a:srgbClr val="534AB7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4930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636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féminin vs masculin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5 Modèles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1097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Chômeur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8595360" cy="566928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00200"/>
            <a:ext cx="64008" cy="56692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7099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1801368"/>
            <a:ext cx="137160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1801368"/>
            <a:ext cx="905256" cy="20116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801368"/>
            <a:ext cx="137160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1801368"/>
            <a:ext cx="892912" cy="20116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801368"/>
            <a:ext cx="1371600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1801368"/>
            <a:ext cx="892912" cy="201168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21992"/>
            <a:ext cx="859536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2423160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0" y="2423160"/>
            <a:ext cx="858622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423160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0" y="2423160"/>
            <a:ext cx="850392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423160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6640" y="2423160"/>
            <a:ext cx="1013612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843784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9535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40480" y="3044952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40480" y="3044952"/>
            <a:ext cx="851764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2935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3044952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69280" y="3044952"/>
            <a:ext cx="840791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2935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3044952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406640" y="3044952"/>
            <a:ext cx="962863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2935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465576"/>
            <a:ext cx="859536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5753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840480" y="3666744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840480" y="3666744"/>
            <a:ext cx="862736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0.629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3666744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0" y="3666744"/>
            <a:ext cx="833933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06640" y="3666744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3666744"/>
            <a:ext cx="903884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3"/>
          <p:cNvSpPr/>
          <p:nvPr/>
        </p:nvSpPr>
        <p:spPr>
          <a:xfrm>
            <a:off x="740664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4087368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1970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840480" y="4288536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3840480" y="4288536"/>
            <a:ext cx="807872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3840480" y="4178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0.589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69280" y="4288536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669280" y="4288536"/>
            <a:ext cx="795528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5669280" y="4178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06640" y="4288536"/>
            <a:ext cx="1371600" cy="201168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06640" y="4288536"/>
            <a:ext cx="817474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7406640" y="4178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0.596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principale : F1-macro — équilibre précision/rappel sur les 3 classes déséquilibrées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Tentative d'Amélioration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— XGBoost (Gain)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parenté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61848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1618488"/>
            <a:ext cx="1682496" cy="1828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057400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2057400"/>
            <a:ext cx="1426464" cy="1828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32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d'activité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496312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2496312"/>
            <a:ext cx="1188720" cy="1828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432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935224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2468880" y="2935224"/>
            <a:ext cx="1060704" cy="1828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instruction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3374136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2468880" y="3374136"/>
            <a:ext cx="950976" cy="1828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3310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intérieure 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813048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2468880" y="3813048"/>
            <a:ext cx="694944" cy="18288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187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Gouvernorat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4251960"/>
            <a:ext cx="1828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2468880" y="4251960"/>
            <a:ext cx="585216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4187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1481328"/>
            <a:ext cx="41148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1097280"/>
            <a:ext cx="420624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09728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 — Tentative d'Amélioration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1691640"/>
            <a:ext cx="4023360" cy="777240"/>
          </a:xfrm>
          <a:prstGeom prst="rect">
            <a:avLst/>
          </a:prstGeom>
          <a:solidFill>
            <a:srgbClr val="FEF9EC">
              <a:alpha val="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1691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A — Binaire (Employé vs Non-Employé)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Acc=0.703  F1=0.422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606040"/>
            <a:ext cx="4023360" cy="777240"/>
          </a:xfrm>
          <a:prstGeom prst="rect">
            <a:avLst/>
          </a:prstGeom>
          <a:solidFill>
            <a:srgbClr val="FEF9EC">
              <a:alpha val="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26060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5780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B — 3 classes + features avancées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Acc=0.655  F1=0.648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520440"/>
            <a:ext cx="4023360" cy="777240"/>
          </a:xfrm>
          <a:prstGeom prst="rect">
            <a:avLst/>
          </a:prstGeom>
          <a:solidFill>
            <a:srgbClr val="1D9E75">
              <a:alpha val="1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846320" y="3520440"/>
            <a:ext cx="54864" cy="7772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5780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originale Phase 4 ← RETENUE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57800" y="3904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Acc=0.660  F1=0.651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4632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Le modèle 3 classes conserve la richesse analytique du marché du travail tunisien.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Applicabilité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65 496 individus réels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 discriminant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8892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de A à Z — 6 notebooks documentés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officiel INS Tunisie — données réelles 452 928 individus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paradoxe du diplôme confirmé par Feature Importance (XGBoost)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160520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F1=0.651 cohérent avec la littérature académique (benchmarks 0.62–0.70)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E75B6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690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Applicabilité réelle : ANETI · Ministère de l'Emploi · Politiques d'insertion professionnelle ciblées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Chômage Diplômés Tunisiens</dc:title>
  <dc:subject>PptxGenJS Presentation</dc:subject>
  <dc:creator>Boudriga Ahmed</dc:creator>
  <cp:lastModifiedBy>Boudriga Ahmed</cp:lastModifiedBy>
  <cp:revision>1</cp:revision>
  <dcterms:created xsi:type="dcterms:W3CDTF">2026-04-10T23:18:41Z</dcterms:created>
  <dcterms:modified xsi:type="dcterms:W3CDTF">2026-04-10T23:18:41Z</dcterms:modified>
</cp:coreProperties>
</file>